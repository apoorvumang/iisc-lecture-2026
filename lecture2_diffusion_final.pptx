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Inter"/>
      <p:regular r:id="rId27"/>
      <p:bold r:id="rId28"/>
      <p:italic r:id="rId29"/>
      <p:boldItalic r:id="rId30"/>
    </p:embeddedFont>
    <p:embeddedFont>
      <p:font typeface="Cabin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t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Cabin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7.xml"/><Relationship Id="rId33" Type="http://schemas.openxmlformats.org/officeDocument/2006/relationships/font" Target="fonts/Cabin-italic.fntdata"/><Relationship Id="rId10" Type="http://schemas.openxmlformats.org/officeDocument/2006/relationships/slide" Target="slides/slide6.xml"/><Relationship Id="rId32" Type="http://schemas.openxmlformats.org/officeDocument/2006/relationships/font" Target="fonts/Cabin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Cabin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2">
  <p:cSld name="CUSTOM_2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 title="Slide 16_9 - 1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/>
        </p:nvSpPr>
        <p:spPr>
          <a:xfrm>
            <a:off x="8489700" y="4842004"/>
            <a:ext cx="311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4571970" y="4842000"/>
            <a:ext cx="4076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Inception</a:t>
            </a:r>
            <a:endParaRPr b="0" i="0" sz="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" name="Google Shape;11;p2" title="Group 3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4819625"/>
            <a:ext cx="713755" cy="1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AF8F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/>
        </p:nvSpPr>
        <p:spPr>
          <a:xfrm>
            <a:off x="8489700" y="4842004"/>
            <a:ext cx="311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600" u="none" cap="none" strike="noStrike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Google Shape;14;p3"/>
          <p:cNvSpPr txBox="1"/>
          <p:nvPr/>
        </p:nvSpPr>
        <p:spPr>
          <a:xfrm>
            <a:off x="4571970" y="4842000"/>
            <a:ext cx="4076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accent3"/>
                </a:solidFill>
                <a:latin typeface="Inter"/>
                <a:ea typeface="Inter"/>
                <a:cs typeface="Inter"/>
                <a:sym typeface="Inter"/>
              </a:rPr>
              <a:t>Inception AI</a:t>
            </a:r>
            <a:endParaRPr b="0" i="0" sz="600" u="none" cap="none" strike="noStrike">
              <a:solidFill>
                <a:schemeClr val="accent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" name="Google Shape;15;p3" title="Group 36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1100" y="4819625"/>
            <a:ext cx="717362" cy="1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bg>
      <p:bgPr>
        <a:solidFill>
          <a:srgbClr val="041414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/>
        </p:nvSpPr>
        <p:spPr>
          <a:xfrm>
            <a:off x="8489700" y="4842004"/>
            <a:ext cx="311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" name="Google Shape;18;p4"/>
          <p:cNvSpPr txBox="1"/>
          <p:nvPr/>
        </p:nvSpPr>
        <p:spPr>
          <a:xfrm>
            <a:off x="4571970" y="4842000"/>
            <a:ext cx="4076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Inception</a:t>
            </a:r>
            <a:endParaRPr b="0" i="0" sz="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9" name="Google Shape;19;p4" title="Group 35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2900" y="4819625"/>
            <a:ext cx="713755" cy="1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">
    <p:bg>
      <p:bgPr>
        <a:solidFill>
          <a:schemeClr val="dk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 title="Slide 16_9 - 12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/>
        </p:nvSpPr>
        <p:spPr>
          <a:xfrm>
            <a:off x="8489700" y="4842004"/>
            <a:ext cx="3114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" sz="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‹#›</a:t>
            </a:fld>
            <a:endParaRPr b="0" i="0" sz="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" name="Google Shape;23;p5"/>
          <p:cNvSpPr txBox="1"/>
          <p:nvPr/>
        </p:nvSpPr>
        <p:spPr>
          <a:xfrm>
            <a:off x="4571970" y="4842000"/>
            <a:ext cx="40767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Inception</a:t>
            </a:r>
            <a:endParaRPr b="0" i="0" sz="6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" name="Google Shape;24;p5" title="Group 35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900" y="4819625"/>
            <a:ext cx="713755" cy="137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44">
          <p15:clr>
            <a:srgbClr val="E46962"/>
          </p15:clr>
        </p15:guide>
        <p15:guide id="2" orient="horz" pos="3096">
          <p15:clr>
            <a:srgbClr val="E46962"/>
          </p15:clr>
        </p15:guide>
        <p15:guide id="3" pos="216">
          <p15:clr>
            <a:srgbClr val="E46962"/>
          </p15:clr>
        </p15:guide>
        <p15:guide id="4" pos="5544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cvpr2022-tutorial-diffusion-models.github.io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inceptionlabs.ai/careers" TargetMode="External"/><Relationship Id="rId4" Type="http://schemas.openxmlformats.org/officeDocument/2006/relationships/hyperlink" Target="mailto:apoorv@inceptionlabs.ai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/>
        </p:nvSpPr>
        <p:spPr>
          <a:xfrm>
            <a:off x="457100" y="1400000"/>
            <a:ext cx="82298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" sz="38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Discrete Diffusion</a:t>
            </a:r>
            <a:br>
              <a:rPr b="0" i="0" lang="en" sz="38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</a:br>
            <a:r>
              <a:rPr b="0" i="0" lang="en" sz="38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Language Models</a:t>
            </a:r>
            <a:endParaRPr/>
          </a:p>
        </p:txBody>
      </p:sp>
      <p:sp>
        <p:nvSpPr>
          <p:cNvPr id="30" name="Google Shape;30;p6"/>
          <p:cNvSpPr txBox="1"/>
          <p:nvPr/>
        </p:nvSpPr>
        <p:spPr>
          <a:xfrm>
            <a:off x="457100" y="2700000"/>
            <a:ext cx="82298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009999"/>
                </a:solidFill>
                <a:latin typeface="Inter"/>
                <a:ea typeface="Inter"/>
                <a:cs typeface="Inter"/>
                <a:sym typeface="Inter"/>
              </a:rPr>
              <a:t>April 7, 2026  ·  Apoorv Saxena  ·  Inception AI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/>
        </p:nvSpPr>
        <p:spPr>
          <a:xfrm>
            <a:off x="457100" y="380000"/>
            <a:ext cx="82298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Agenda</a:t>
            </a:r>
            <a:endParaRPr/>
          </a:p>
        </p:txBody>
      </p:sp>
      <p:sp>
        <p:nvSpPr>
          <p:cNvPr id="36" name="Google Shape;36;p7"/>
          <p:cNvSpPr txBox="1"/>
          <p:nvPr/>
        </p:nvSpPr>
        <p:spPr>
          <a:xfrm>
            <a:off x="457100" y="1100000"/>
            <a:ext cx="8229900" cy="25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B8B8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b="0" i="0" lang="en" sz="18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   Recap &amp; Motivation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A4A48"/>
                </a:solidFill>
                <a:latin typeface="Inter"/>
                <a:ea typeface="Inter"/>
                <a:cs typeface="Inter"/>
                <a:sym typeface="Inter"/>
              </a:rPr>
              <a:t>      AR constraint → what if we went parallel?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B8B8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b="0" i="0" lang="en" sz="18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   </a:t>
            </a:r>
            <a:r>
              <a:rPr lang="en" sz="1800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Masked LMs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A4A48"/>
                </a:solidFill>
                <a:latin typeface="Inter"/>
                <a:ea typeface="Inter"/>
                <a:cs typeface="Inter"/>
                <a:sym typeface="Inter"/>
              </a:rPr>
              <a:t>      Fill masks · AR generation · the key insight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B8B8"/>
                </a:solidFill>
                <a:latin typeface="Cabin"/>
                <a:ea typeface="Cabin"/>
                <a:cs typeface="Cabin"/>
                <a:sym typeface="Cabin"/>
              </a:rPr>
              <a:t>3</a:t>
            </a:r>
            <a:r>
              <a:rPr b="0" i="0" lang="en" sz="18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   Discrete Diffusion Theory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A4A48"/>
                </a:solidFill>
                <a:latin typeface="Inter"/>
                <a:ea typeface="Inter"/>
                <a:cs typeface="Inter"/>
                <a:sym typeface="Inter"/>
              </a:rPr>
              <a:t>      Forward process · Training · Inference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B8B8"/>
                </a:solidFill>
                <a:latin typeface="Cabin"/>
                <a:ea typeface="Cabin"/>
                <a:cs typeface="Cabin"/>
                <a:sym typeface="Cabin"/>
              </a:rPr>
              <a:t>4</a:t>
            </a:r>
            <a:r>
              <a:rPr b="0" i="0" lang="en" sz="18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   Iterative Unmasking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A4A48"/>
                </a:solidFill>
                <a:latin typeface="Inter"/>
                <a:ea typeface="Inter"/>
                <a:cs typeface="Inter"/>
                <a:sym typeface="Inter"/>
              </a:rPr>
              <a:t>      Building the algorithm · infilling · real models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B8B8"/>
                </a:solidFill>
                <a:latin typeface="Cabin"/>
                <a:ea typeface="Cabin"/>
                <a:cs typeface="Cabin"/>
                <a:sym typeface="Cabin"/>
              </a:rPr>
              <a:t>5</a:t>
            </a:r>
            <a:r>
              <a:rPr b="0" i="0" lang="en" sz="18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   Open Problems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4A4A48"/>
                </a:solidFill>
                <a:latin typeface="Inter"/>
                <a:ea typeface="Inter"/>
                <a:cs typeface="Inter"/>
                <a:sym typeface="Inter"/>
              </a:rPr>
              <a:t>      Scaling · Alignment · Efficiency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 txBox="1"/>
          <p:nvPr/>
        </p:nvSpPr>
        <p:spPr>
          <a:xfrm>
            <a:off x="457100" y="424975"/>
            <a:ext cx="822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Recap: The AR Constraint</a:t>
            </a:r>
            <a:endParaRPr/>
          </a:p>
        </p:txBody>
      </p:sp>
      <p:sp>
        <p:nvSpPr>
          <p:cNvPr id="43" name="Google Shape;43;p8"/>
          <p:cNvSpPr txBox="1"/>
          <p:nvPr/>
        </p:nvSpPr>
        <p:spPr>
          <a:xfrm>
            <a:off x="457100" y="1180000"/>
            <a:ext cx="8229900" cy="25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Everything in Lecture 1 obeyed one rule: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00B8B8"/>
                </a:solidFill>
                <a:latin typeface="Consolas"/>
                <a:ea typeface="Consolas"/>
                <a:cs typeface="Consolas"/>
                <a:sym typeface="Consolas"/>
              </a:rPr>
              <a:t>P(x_1, x_2, ..., x_n) = ∏ P(x_t | x_1, ..., x_{t-1})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One token at a time, strictly left to right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Greedy, sampling, top-k, top-p, min-p, PLD — all left-to-right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What would ideal generation look like?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Generate all tokens in parallel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Edit and refine iteratively (like how humans actually write)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Fill in the middle, not just extend from the left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" sz="1700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(Maybe w</a:t>
            </a: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e already know </a:t>
            </a:r>
            <a:r>
              <a:rPr b="1" lang="en" sz="1700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about such a model?...)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9"/>
          <p:cNvSpPr txBox="1"/>
          <p:nvPr/>
        </p:nvSpPr>
        <p:spPr>
          <a:xfrm>
            <a:off x="457100" y="424975"/>
            <a:ext cx="82299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Diffusion in Images</a:t>
            </a:r>
            <a:endParaRPr/>
          </a:p>
        </p:txBody>
      </p:sp>
      <p:sp>
        <p:nvSpPr>
          <p:cNvPr id="50" name="Google Shape;50;p9"/>
          <p:cNvSpPr txBox="1"/>
          <p:nvPr/>
        </p:nvSpPr>
        <p:spPr>
          <a:xfrm>
            <a:off x="510150" y="4455800"/>
            <a:ext cx="82299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" sz="1350" u="none" cap="none" strike="noStrike">
                <a:solidFill>
                  <a:srgbClr val="4A4A48"/>
                </a:solidFill>
                <a:latin typeface="Inter"/>
                <a:ea typeface="Inter"/>
                <a:cs typeface="Inter"/>
                <a:sym typeface="Inter"/>
              </a:rPr>
              <a:t>→  For text: instead of Gaussian noise, we MASK tokens</a:t>
            </a:r>
            <a:endParaRPr/>
          </a:p>
        </p:txBody>
      </p:sp>
      <p:pic>
        <p:nvPicPr>
          <p:cNvPr id="51" name="Google Shape;51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013" y="1124838"/>
            <a:ext cx="6870074" cy="267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9"/>
          <p:cNvSpPr txBox="1"/>
          <p:nvPr/>
        </p:nvSpPr>
        <p:spPr>
          <a:xfrm>
            <a:off x="662550" y="3800150"/>
            <a:ext cx="82299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i="1" lang="en" sz="1350">
                <a:solidFill>
                  <a:srgbClr val="4A4A4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" sz="1200" u="sng">
                <a:solidFill>
                  <a:srgbClr val="0071BC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https://cvpr2022-tutorial-diffusion-models.github.io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/>
        </p:nvSpPr>
        <p:spPr>
          <a:xfrm>
            <a:off x="457100" y="1600000"/>
            <a:ext cx="82298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" sz="45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Part 1</a:t>
            </a:r>
            <a:endParaRPr/>
          </a:p>
        </p:txBody>
      </p:sp>
      <p:sp>
        <p:nvSpPr>
          <p:cNvPr id="58" name="Google Shape;58;p10"/>
          <p:cNvSpPr txBox="1"/>
          <p:nvPr/>
        </p:nvSpPr>
        <p:spPr>
          <a:xfrm>
            <a:off x="457100" y="2600000"/>
            <a:ext cx="82298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9999"/>
                </a:solidFill>
                <a:latin typeface="Inter"/>
                <a:ea typeface="Inter"/>
                <a:cs typeface="Inter"/>
                <a:sym typeface="Inter"/>
              </a:rPr>
              <a:t>BERT as a Masked Language Model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1"/>
          <p:cNvSpPr txBox="1"/>
          <p:nvPr/>
        </p:nvSpPr>
        <p:spPr>
          <a:xfrm>
            <a:off x="457100" y="424975"/>
            <a:ext cx="822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BERT: Masked Language Modeling</a:t>
            </a:r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457100" y="1180000"/>
            <a:ext cx="8229900" cy="30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Training: mask ~</a:t>
            </a:r>
            <a:r>
              <a:rPr b="1" lang="en" sz="1700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X</a:t>
            </a: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% of tokens, predict the originals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00B8B8"/>
                </a:solidFill>
                <a:latin typeface="Consolas"/>
                <a:ea typeface="Consolas"/>
                <a:cs typeface="Consolas"/>
                <a:sym typeface="Consolas"/>
              </a:rPr>
              <a:t>"The [MASK] of France is Paris"  →  P("capital") = 0.92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rgbClr val="00B8B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One mask: easy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"The capital of France is [MASK]."  →  "Paris" ✔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Two masks: still okay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"The [MASK] of [MASK] is Paris."  →  "city of France" ✔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All masks: total failure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"[MASK] [MASK] [MASK] [MASK] [MASK]"  →  garbage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4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Why? Original BERT only saw 15% masking during training. 100% is out of distribution.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457100" y="424975"/>
            <a:ext cx="8229900" cy="5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Can BERT Do</a:t>
            </a:r>
            <a:r>
              <a:rPr b="1" lang="en" sz="2600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Generation?</a:t>
            </a:r>
            <a:endParaRPr/>
          </a:p>
        </p:txBody>
      </p:sp>
      <p:sp>
        <p:nvSpPr>
          <p:cNvPr id="72" name="Google Shape;72;p12"/>
          <p:cNvSpPr txBox="1"/>
          <p:nvPr/>
        </p:nvSpPr>
        <p:spPr>
          <a:xfrm>
            <a:off x="457100" y="1180000"/>
            <a:ext cx="8229900" cy="25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Idea: append [MASK] at the end, predict, replace, repeat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00B8B8"/>
                </a:solidFill>
                <a:latin typeface="Consolas"/>
                <a:ea typeface="Consolas"/>
                <a:cs typeface="Consolas"/>
                <a:sym typeface="Consolas"/>
              </a:rPr>
              <a:t>"the meaning of life is" + [MASK]  →  predict next token  →  repeat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rgbClr val="00B8B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It works... but it’s awkward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BERT was trained to see the full sentence — bidirectional context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When generating left-to-right, the right side is always [MASK]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BERT wasn’t trained for this regime — it’s off-distribution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The real strength of BERT is non-directional prediction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What if we used that — predict ALL positions at once, iteratively?</a:t>
            </a:r>
            <a:endParaRPr/>
          </a:p>
          <a:p>
            <a:pPr indent="0" lvl="0" marL="457200" marR="0" rtl="0" algn="l">
              <a:lnSpc>
                <a:spcPct val="90000"/>
              </a:lnSpc>
              <a:spcBef>
                <a:spcPts val="120"/>
              </a:spcBef>
              <a:spcAft>
                <a:spcPts val="4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457100" y="424975"/>
            <a:ext cx="822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The Key Insight</a:t>
            </a:r>
            <a:endParaRPr/>
          </a:p>
        </p:txBody>
      </p:sp>
      <p:sp>
        <p:nvSpPr>
          <p:cNvPr id="79" name="Google Shape;79;p13"/>
          <p:cNvSpPr txBox="1"/>
          <p:nvPr/>
        </p:nvSpPr>
        <p:spPr>
          <a:xfrm>
            <a:off x="457100" y="1180000"/>
            <a:ext cx="8229900" cy="3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" sz="4800" u="none" cap="none" strike="noStrike">
                <a:solidFill>
                  <a:srgbClr val="00B8B8"/>
                </a:solidFill>
                <a:latin typeface="Cabin"/>
                <a:ea typeface="Cabin"/>
                <a:cs typeface="Cabin"/>
                <a:sym typeface="Cabin"/>
              </a:rPr>
              <a:t>15%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4A4A48"/>
                </a:solidFill>
                <a:latin typeface="Inter"/>
                <a:ea typeface="Inter"/>
                <a:cs typeface="Inter"/>
                <a:sym typeface="Inter"/>
              </a:rPr>
              <a:t>BERT training = one noise level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4A4A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What if we trained at EVERY noise level?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At 15% masking: exactly BERT’s original task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At 50% masking: predict with half the context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At 100% masking: generate from pure noise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Train one model across the full spectrum 0% → 100%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262626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00B8B8"/>
                </a:solidFill>
                <a:latin typeface="Consolas"/>
                <a:ea typeface="Consolas"/>
                <a:cs typeface="Consolas"/>
                <a:sym typeface="Consolas"/>
              </a:rPr>
              <a:t>Diffusion = BERT MLM at all noise levels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rgbClr val="00B8B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4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This is the core idea of discrete diffusion language models.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/>
        </p:nvSpPr>
        <p:spPr>
          <a:xfrm>
            <a:off x="457100" y="1600000"/>
            <a:ext cx="82298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" sz="45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Part 2</a:t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457100" y="2600000"/>
            <a:ext cx="82298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9999"/>
                </a:solidFill>
                <a:latin typeface="Inter"/>
                <a:ea typeface="Inter"/>
                <a:cs typeface="Inter"/>
                <a:sym typeface="Inter"/>
              </a:rPr>
              <a:t>Discrete Diffusion: The Theory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5"/>
          <p:cNvSpPr txBox="1"/>
          <p:nvPr/>
        </p:nvSpPr>
        <p:spPr>
          <a:xfrm>
            <a:off x="457100" y="424975"/>
            <a:ext cx="822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The Forward Process (Adding Noise)</a:t>
            </a:r>
            <a:endParaRPr/>
          </a:p>
        </p:txBody>
      </p:sp>
      <p:sp>
        <p:nvSpPr>
          <p:cNvPr id="92" name="Google Shape;92;p15"/>
          <p:cNvSpPr txBox="1"/>
          <p:nvPr/>
        </p:nvSpPr>
        <p:spPr>
          <a:xfrm>
            <a:off x="457100" y="1180000"/>
            <a:ext cx="8229900" cy="25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Start with clean text, progressively mask tokens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262626"/>
              </a:solidFill>
              <a:latin typeface="Cabin"/>
              <a:ea typeface="Cabin"/>
              <a:cs typeface="Cabin"/>
              <a:sym typeface="Cabi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t=0.0:  "The  cat  sat  on  the  mat"  (clean)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t=0.3:  "The  cat  [M]  on  the  [M]"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t=0.7:  "[M]  cat  [M]  [M]  [M]  [M]"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t=1.0:  "[M]  [M]  [M]  [M]  [M]  [M]"  (fully masked)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The noise schedule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At each timestep t, each token is independently masked with probability 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 is a continuous value from 0 (clean) to 1 (fully masked)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4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This gives us training data at every noise level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457100" y="424975"/>
            <a:ext cx="822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Training: Predict Clean Tokens at Any Noise Level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457100" y="1180000"/>
            <a:ext cx="4014900" cy="27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The training objective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Given noisy text at level t, predict the original clean tokens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What the model sees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t=0.15: "[M] cat sat on the mat"</a:t>
            </a:r>
            <a:endParaRPr/>
          </a:p>
          <a:p>
            <a:pPr indent="-285750" lvl="0" marL="57150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4A4A48"/>
                </a:solidFill>
                <a:latin typeface="Inter"/>
                <a:ea typeface="Inter"/>
                <a:cs typeface="Inter"/>
                <a:sym typeface="Inter"/>
              </a:rPr>
              <a:t>→ Predict just 1 token (like BERT)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4A4A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t=0.50: "[M] cat [M] [M] the [M]"</a:t>
            </a:r>
            <a:endParaRPr/>
          </a:p>
          <a:p>
            <a:pPr indent="-285750" lvl="0" marL="57150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4A4A48"/>
                </a:solidFill>
                <a:latin typeface="Inter"/>
                <a:ea typeface="Inter"/>
                <a:cs typeface="Inter"/>
                <a:sym typeface="Inter"/>
              </a:rPr>
              <a:t>→ Predict 3 tokens with partial context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4A4A4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t=1.00: "[M] [M] [M] [M] [M] [M]"</a:t>
            </a:r>
            <a:endParaRPr/>
          </a:p>
          <a:p>
            <a:pPr indent="-285750" lvl="0" marL="57150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4A4A48"/>
                </a:solidFill>
                <a:latin typeface="Inter"/>
                <a:ea typeface="Inter"/>
                <a:cs typeface="Inter"/>
                <a:sym typeface="Inter"/>
              </a:rPr>
              <a:t>→ Predict everything from scratch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4672000" y="1180000"/>
            <a:ext cx="4014900" cy="3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Loss function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Cross-entropy on masked positions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Sample random t ~ Uniform(0,1)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Weight by noise level (details vary per paper)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Key insight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At t=0.15 this is exactly BERT MLM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The model learns a spectrum from easy to hard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No new architecture needed — same transformer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Result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5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One model that can fill in any number of blanks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457100" y="424975"/>
            <a:ext cx="82299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Inference: The Reverse Process</a:t>
            </a:r>
            <a:endParaRPr/>
          </a:p>
        </p:txBody>
      </p:sp>
      <p:grpSp>
        <p:nvGrpSpPr>
          <p:cNvPr id="107" name="Google Shape;107;p17"/>
          <p:cNvGrpSpPr/>
          <p:nvPr/>
        </p:nvGrpSpPr>
        <p:grpSpPr>
          <a:xfrm>
            <a:off x="457100" y="1280000"/>
            <a:ext cx="2380000" cy="2200000"/>
            <a:chOff x="457100" y="1280000"/>
            <a:chExt cx="2380000" cy="2200000"/>
          </a:xfrm>
        </p:grpSpPr>
        <p:sp>
          <p:nvSpPr>
            <p:cNvPr id="108" name="Google Shape;108;p17"/>
            <p:cNvSpPr/>
            <p:nvPr/>
          </p:nvSpPr>
          <p:spPr>
            <a:xfrm>
              <a:off x="457100" y="1280000"/>
              <a:ext cx="2380000" cy="2200000"/>
            </a:xfrm>
            <a:prstGeom prst="rect">
              <a:avLst/>
            </a:prstGeom>
            <a:solidFill>
              <a:srgbClr val="0D1F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7"/>
            <p:cNvSpPr txBox="1"/>
            <p:nvPr/>
          </p:nvSpPr>
          <p:spPr>
            <a:xfrm>
              <a:off x="607100" y="1430000"/>
              <a:ext cx="2079900" cy="173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" sz="3600" u="none" cap="none" strike="noStrike">
                  <a:solidFill>
                    <a:srgbClr val="00B8B8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AF8F0"/>
                  </a:solidFill>
                  <a:latin typeface="Cabin"/>
                  <a:ea typeface="Cabin"/>
                  <a:cs typeface="Cabin"/>
                  <a:sym typeface="Cabin"/>
                </a:rPr>
                <a:t>Start from Noise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14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" sz="1150" u="none" cap="none" strike="noStrike">
                  <a:solidFill>
                    <a:srgbClr val="A8C0BF"/>
                  </a:solidFill>
                  <a:latin typeface="Inter"/>
                  <a:ea typeface="Inter"/>
                  <a:cs typeface="Inter"/>
                  <a:sym typeface="Inter"/>
                </a:rPr>
                <a:t>All positions begin as [MASK]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4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" sz="1150" u="none" cap="none" strike="noStrike">
                  <a:solidFill>
                    <a:srgbClr val="A8C0BF"/>
                  </a:solidFill>
                  <a:latin typeface="Inter"/>
                  <a:ea typeface="Inter"/>
                  <a:cs typeface="Inter"/>
                  <a:sym typeface="Inter"/>
                </a:rPr>
                <a:t>t = 1.0 (fully noisy)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4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" sz="1150" u="none" cap="none" strike="noStrike">
                  <a:solidFill>
                    <a:srgbClr val="A8C0BF"/>
                  </a:solidFill>
                  <a:latin typeface="Inter"/>
                  <a:ea typeface="Inter"/>
                  <a:cs typeface="Inter"/>
                  <a:sym typeface="Inter"/>
                </a:rPr>
                <a:t>No information about content</a:t>
              </a:r>
              <a:endParaRPr/>
            </a:p>
          </p:txBody>
        </p:sp>
      </p:grpSp>
      <p:grpSp>
        <p:nvGrpSpPr>
          <p:cNvPr id="110" name="Google Shape;110;p17"/>
          <p:cNvGrpSpPr/>
          <p:nvPr/>
        </p:nvGrpSpPr>
        <p:grpSpPr>
          <a:xfrm>
            <a:off x="3057100" y="1280000"/>
            <a:ext cx="2850000" cy="2200000"/>
            <a:chOff x="3057100" y="1280000"/>
            <a:chExt cx="2850000" cy="2200000"/>
          </a:xfrm>
        </p:grpSpPr>
        <p:sp>
          <p:nvSpPr>
            <p:cNvPr id="111" name="Google Shape;111;p17"/>
            <p:cNvSpPr/>
            <p:nvPr/>
          </p:nvSpPr>
          <p:spPr>
            <a:xfrm>
              <a:off x="3057100" y="2300000"/>
              <a:ext cx="250000" cy="1600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00B8B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3527100" y="1280000"/>
              <a:ext cx="2380000" cy="2200000"/>
            </a:xfrm>
            <a:prstGeom prst="rect">
              <a:avLst/>
            </a:prstGeom>
            <a:solidFill>
              <a:srgbClr val="0D1F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3677100" y="1430000"/>
              <a:ext cx="2079900" cy="189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" sz="3600" u="none" cap="none" strike="noStrike">
                  <a:solidFill>
                    <a:srgbClr val="00B8B8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AF8F0"/>
                  </a:solidFill>
                  <a:latin typeface="Cabin"/>
                  <a:ea typeface="Cabin"/>
                  <a:cs typeface="Cabin"/>
                  <a:sym typeface="Cabin"/>
                </a:rPr>
                <a:t>Predict + Unmask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14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" sz="1150" u="none" cap="none" strike="noStrike">
                  <a:solidFill>
                    <a:srgbClr val="A8C0BF"/>
                  </a:solidFill>
                  <a:latin typeface="Inter"/>
                  <a:ea typeface="Inter"/>
                  <a:cs typeface="Inter"/>
                  <a:sym typeface="Inter"/>
                </a:rPr>
                <a:t>Model predicts all positions at once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4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" sz="1150" u="none" cap="none" strike="noStrike">
                  <a:solidFill>
                    <a:srgbClr val="A8C0BF"/>
                  </a:solidFill>
                  <a:latin typeface="Inter"/>
                  <a:ea typeface="Inter"/>
                  <a:cs typeface="Inter"/>
                  <a:sym typeface="Inter"/>
                </a:rPr>
                <a:t>Pick the most confident predictions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4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" sz="1150" u="none" cap="none" strike="noStrike">
                  <a:solidFill>
                    <a:srgbClr val="A8C0BF"/>
                  </a:solidFill>
                  <a:latin typeface="Inter"/>
                  <a:ea typeface="Inter"/>
                  <a:cs typeface="Inter"/>
                  <a:sym typeface="Inter"/>
                </a:rPr>
                <a:t>Unmask them, keep rest as [MASK]</a:t>
              </a:r>
              <a:endParaRPr/>
            </a:p>
          </p:txBody>
        </p:sp>
      </p:grpSp>
      <p:grpSp>
        <p:nvGrpSpPr>
          <p:cNvPr id="114" name="Google Shape;114;p17"/>
          <p:cNvGrpSpPr/>
          <p:nvPr/>
        </p:nvGrpSpPr>
        <p:grpSpPr>
          <a:xfrm>
            <a:off x="6127100" y="1280000"/>
            <a:ext cx="2850000" cy="2200000"/>
            <a:chOff x="6127100" y="1280000"/>
            <a:chExt cx="2850000" cy="2200000"/>
          </a:xfrm>
        </p:grpSpPr>
        <p:sp>
          <p:nvSpPr>
            <p:cNvPr id="115" name="Google Shape;115;p17"/>
            <p:cNvSpPr/>
            <p:nvPr/>
          </p:nvSpPr>
          <p:spPr>
            <a:xfrm>
              <a:off x="6127100" y="2300000"/>
              <a:ext cx="249900" cy="159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00B8B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6597100" y="1280000"/>
              <a:ext cx="2380000" cy="2200000"/>
            </a:xfrm>
            <a:prstGeom prst="rect">
              <a:avLst/>
            </a:prstGeom>
            <a:solidFill>
              <a:srgbClr val="0D1F1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7"/>
            <p:cNvSpPr txBox="1"/>
            <p:nvPr/>
          </p:nvSpPr>
          <p:spPr>
            <a:xfrm>
              <a:off x="6747100" y="1430000"/>
              <a:ext cx="2079900" cy="173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1" i="0" lang="en" sz="3600" u="none" cap="none" strike="noStrike">
                  <a:solidFill>
                    <a:srgbClr val="00B8B8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" sz="1500" u="none" cap="none" strike="noStrike">
                  <a:solidFill>
                    <a:srgbClr val="FAF8F0"/>
                  </a:solidFill>
                  <a:latin typeface="Cabin"/>
                  <a:ea typeface="Cabin"/>
                  <a:cs typeface="Cabin"/>
                  <a:sym typeface="Cabin"/>
                </a:rPr>
                <a:t>Iterate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14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" sz="1150" u="none" cap="none" strike="noStrike">
                  <a:solidFill>
                    <a:srgbClr val="A8C0BF"/>
                  </a:solidFill>
                  <a:latin typeface="Inter"/>
                  <a:ea typeface="Inter"/>
                  <a:cs typeface="Inter"/>
                  <a:sym typeface="Inter"/>
                </a:rPr>
                <a:t>Each step: lower noise, more tokens revealed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4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" sz="1150" u="none" cap="none" strike="noStrike">
                  <a:solidFill>
                    <a:srgbClr val="A8C0BF"/>
                  </a:solidFill>
                  <a:latin typeface="Inter"/>
                  <a:ea typeface="Inter"/>
                  <a:cs typeface="Inter"/>
                  <a:sym typeface="Inter"/>
                </a:rPr>
                <a:t>After T steps: clean text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4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" sz="1150" u="none" cap="none" strike="noStrike">
                  <a:solidFill>
                    <a:srgbClr val="A8C0BF"/>
                  </a:solidFill>
                  <a:latin typeface="Inter"/>
                  <a:ea typeface="Inter"/>
                  <a:cs typeface="Inter"/>
                  <a:sym typeface="Inter"/>
                </a:rPr>
                <a:t>T is a hyperparameter (quality vs speed)</a:t>
              </a:r>
              <a:endParaRPr/>
            </a:p>
          </p:txBody>
        </p:sp>
      </p:grpSp>
      <p:sp>
        <p:nvSpPr>
          <p:cNvPr id="118" name="Google Shape;118;p17"/>
          <p:cNvSpPr txBox="1"/>
          <p:nvPr/>
        </p:nvSpPr>
        <p:spPr>
          <a:xfrm>
            <a:off x="457100" y="3730000"/>
            <a:ext cx="82299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" sz="1350" u="none" cap="none" strike="noStrike">
                <a:solidFill>
                  <a:srgbClr val="00B8B8"/>
                </a:solidFill>
                <a:latin typeface="Inter"/>
                <a:ea typeface="Inter"/>
                <a:cs typeface="Inter"/>
                <a:sym typeface="Inter"/>
              </a:rPr>
              <a:t>Key: each step is a FULL parallel prediction — not one token at a time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/>
        </p:nvSpPr>
        <p:spPr>
          <a:xfrm>
            <a:off x="457100" y="1600000"/>
            <a:ext cx="82298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" sz="45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Part 3</a:t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457100" y="2600000"/>
            <a:ext cx="82298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9999"/>
                </a:solidFill>
                <a:latin typeface="Inter"/>
                <a:ea typeface="Inter"/>
                <a:cs typeface="Inter"/>
                <a:sym typeface="Inter"/>
              </a:rPr>
              <a:t>Iterative Unmasking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457100" y="424975"/>
            <a:ext cx="822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Iterative Unmasking: The Algorithm</a:t>
            </a:r>
            <a:endParaRPr/>
          </a:p>
        </p:txBody>
      </p:sp>
      <p:sp>
        <p:nvSpPr>
          <p:cNvPr id="131" name="Google Shape;131;p19"/>
          <p:cNvSpPr txBox="1"/>
          <p:nvPr/>
        </p:nvSpPr>
        <p:spPr>
          <a:xfrm>
            <a:off x="457100" y="1180000"/>
            <a:ext cx="82299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Start: all generation positions are [MASK]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00B8B8"/>
                </a:solidFill>
                <a:latin typeface="Consolas"/>
                <a:ea typeface="Consolas"/>
                <a:cs typeface="Consolas"/>
                <a:sym typeface="Consolas"/>
              </a:rPr>
              <a:t>"[prefix tokens...]  [M] [M] [M] [M] [M] [M] [M] [M] [M] [M]"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rgbClr val="00B8B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Each step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Run the model — it predicts a distribution over every [MASK] position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Find the most confident predictions (highest max probability)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Unmask those positions, leave the rest as [MASK]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Repeat until fully unmasked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With BERT: output is mediocre — BERT was trained at 15%, not 100%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With a properly trained diffusion LLM: dramatically better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Compute vs. quality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More steps = more forward passes = better output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4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You choose T. GPT has no such knob.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457100" y="424975"/>
            <a:ext cx="822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AR vs Diffusion: Compute Trade-off</a:t>
            </a:r>
            <a:endParaRPr/>
          </a:p>
        </p:txBody>
      </p:sp>
      <p:sp>
        <p:nvSpPr>
          <p:cNvPr id="138" name="Google Shape;138;p20"/>
          <p:cNvSpPr txBox="1"/>
          <p:nvPr/>
        </p:nvSpPr>
        <p:spPr>
          <a:xfrm>
            <a:off x="457100" y="1180000"/>
            <a:ext cx="4014900" cy="16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Autoregressive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100 tokens = 100 forward passes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Each pass generates 1 token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Inherently sequential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Quality is fixed by model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8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B8B8"/>
                </a:solidFill>
                <a:latin typeface="Consolas"/>
                <a:ea typeface="Consolas"/>
                <a:cs typeface="Consolas"/>
                <a:sym typeface="Consolas"/>
              </a:rPr>
              <a:t>Forward passes = N (sequence length)</a:t>
            </a:r>
            <a:endParaRPr/>
          </a:p>
        </p:txBody>
      </p:sp>
      <p:sp>
        <p:nvSpPr>
          <p:cNvPr id="139" name="Google Shape;139;p20"/>
          <p:cNvSpPr txBox="1"/>
          <p:nvPr/>
        </p:nvSpPr>
        <p:spPr>
          <a:xfrm>
            <a:off x="4672000" y="1180000"/>
            <a:ext cx="40149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Diffusion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100 tokens = T forward passes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Each pass predicts ALL positions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 is your choice (5, 10, 50...)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More steps = better quality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B8B8"/>
                </a:solidFill>
                <a:latin typeface="Consolas"/>
                <a:ea typeface="Consolas"/>
                <a:cs typeface="Consolas"/>
                <a:sym typeface="Consolas"/>
              </a:rPr>
              <a:t>Forward passes = T (your choice, T &lt;&lt; N)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B8B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The trade-off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5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You choose how much compute to spend!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457100" y="424975"/>
            <a:ext cx="822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Infilling: Something AR Can’t Do</a:t>
            </a:r>
            <a:endParaRPr/>
          </a:p>
        </p:txBody>
      </p:sp>
      <p:sp>
        <p:nvSpPr>
          <p:cNvPr id="146" name="Google Shape;146;p21"/>
          <p:cNvSpPr txBox="1"/>
          <p:nvPr/>
        </p:nvSpPr>
        <p:spPr>
          <a:xfrm>
            <a:off x="457100" y="1180000"/>
            <a:ext cx="4014900" cy="30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AR models can only extend from the left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What if you want to fill in the MIDDLE?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B8B8"/>
                </a:solidFill>
                <a:latin typeface="Consolas"/>
                <a:ea typeface="Consolas"/>
                <a:cs typeface="Consolas"/>
                <a:sym typeface="Consolas"/>
              </a:rPr>
              <a:t>"The cat _____ the fence"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B8B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AR: needs special fine-tuning (Fill-in-the-Middle)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Diffusion: works out of the box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Why?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Unmasking is order-free — prefix and suffix both provide context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5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Fix the known tokens, let the model fill the gap</a:t>
            </a:r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4672000" y="1180000"/>
            <a:ext cx="4014900" cy="27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Applications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Code completion (fill in a function body)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Text editing (rewrite one sentence in a paragraph)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Dialogue (given opener + closer, generate the middle)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The asymmetry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This is one of the clearest practical advantages of diffusion over AR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5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No change to model or training needed — just fix some tokens during inference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 txBox="1"/>
          <p:nvPr/>
        </p:nvSpPr>
        <p:spPr>
          <a:xfrm>
            <a:off x="457100" y="424975"/>
            <a:ext cx="822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Real Diffusion LLMs</a:t>
            </a:r>
            <a:endParaRPr/>
          </a:p>
        </p:txBody>
      </p:sp>
      <p:sp>
        <p:nvSpPr>
          <p:cNvPr id="154" name="Google Shape;154;p22"/>
          <p:cNvSpPr txBox="1"/>
          <p:nvPr/>
        </p:nvSpPr>
        <p:spPr>
          <a:xfrm>
            <a:off x="457100" y="1180000"/>
            <a:ext cx="8229900" cy="30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MDLM — Masked Diffusion Language Model (NeurIPS 2024)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Clean theoretical framework for masked diffusion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~200M parameters, trained on OpenWebText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SEDD — Score Entropy Discrete Diffusion (ICML 2024 Best Paper)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Score-based approach: continuous-time, doesn’t use masking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LLaDA — Large Language Diffusion with Masking (2025)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Scaled to 8B parameters — first to rival AR LLMs at scale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Dream — Tencent (2025)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7B instruction-following diffusion LLM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4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Same iterative unmasking algorithm, properly trained — chat, reasoning, code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/>
        </p:nvSpPr>
        <p:spPr>
          <a:xfrm>
            <a:off x="457100" y="1600000"/>
            <a:ext cx="82298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n" sz="45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Part 4</a:t>
            </a:r>
            <a:endParaRPr/>
          </a:p>
        </p:txBody>
      </p:sp>
      <p:sp>
        <p:nvSpPr>
          <p:cNvPr id="160" name="Google Shape;160;p23"/>
          <p:cNvSpPr txBox="1"/>
          <p:nvPr/>
        </p:nvSpPr>
        <p:spPr>
          <a:xfrm>
            <a:off x="457100" y="2600000"/>
            <a:ext cx="82298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09999"/>
                </a:solidFill>
                <a:latin typeface="Inter"/>
                <a:ea typeface="Inter"/>
                <a:cs typeface="Inter"/>
                <a:sym typeface="Inter"/>
              </a:rPr>
              <a:t>Open Problems &amp; Where We Are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4"/>
          <p:cNvSpPr txBox="1"/>
          <p:nvPr/>
        </p:nvSpPr>
        <p:spPr>
          <a:xfrm>
            <a:off x="457100" y="424975"/>
            <a:ext cx="822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Open Problems in Discrete Diffusion</a:t>
            </a:r>
            <a:endParaRPr/>
          </a:p>
        </p:txBody>
      </p:sp>
      <p:sp>
        <p:nvSpPr>
          <p:cNvPr id="167" name="Google Shape;167;p24"/>
          <p:cNvSpPr txBox="1"/>
          <p:nvPr/>
        </p:nvSpPr>
        <p:spPr>
          <a:xfrm>
            <a:off x="457100" y="1180000"/>
            <a:ext cx="8229900" cy="3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Scaling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LLaDA-8B and Dream-7B show promise, but can we match GPT-4 class?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Pre-training compute efficiency vs. AR is still unclear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Long sequences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AR models benefit from </a:t>
            </a:r>
            <a:r>
              <a:rPr lang="en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caching hidden states</a:t>
            </a: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; diffusion re-processes full sequence each step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Alignment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RLHF / DPO for diffusion models is an open research problem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How do you define a reward for a non-sequential generation process?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Efficiency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Is per-step cost competitive with </a:t>
            </a:r>
            <a:r>
              <a:rPr lang="en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cached</a:t>
            </a: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 AR inference?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4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Can we get quality at fewer steps? (Active area: fast samplers)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457100" y="424975"/>
            <a:ext cx="822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Summary: AR vs. Diffusion</a:t>
            </a:r>
            <a:endParaRPr/>
          </a:p>
        </p:txBody>
      </p:sp>
      <p:sp>
        <p:nvSpPr>
          <p:cNvPr id="174" name="Google Shape;174;p25"/>
          <p:cNvSpPr txBox="1"/>
          <p:nvPr/>
        </p:nvSpPr>
        <p:spPr>
          <a:xfrm>
            <a:off x="457100" y="1180000"/>
            <a:ext cx="40149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Autoregressive (GPT-2, LLaMA, etc.)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Left to right, one token at a time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N forward passes for N tokens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Mature, well-understood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Dominant paradigm today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Best for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Long-form generation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Chat / instruction following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5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Established alignment techniques</a:t>
            </a:r>
            <a:endParaRPr/>
          </a:p>
        </p:txBody>
      </p:sp>
      <p:sp>
        <p:nvSpPr>
          <p:cNvPr id="175" name="Google Shape;175;p25"/>
          <p:cNvSpPr txBox="1"/>
          <p:nvPr/>
        </p:nvSpPr>
        <p:spPr>
          <a:xfrm>
            <a:off x="4672000" y="1180000"/>
            <a:ext cx="4014900" cy="25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Diffusion (MDLM, SEDD, etc.)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Any order, iteratively refined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T forward passes (T &lt;&lt; N, your choice)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Flexible: infilling for free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Active research frontier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Best for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Infilling and editing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Controllable compute</a:t>
            </a:r>
            <a:endParaRPr/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Parallel generation</a:t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70"/>
              </a:spcBef>
              <a:spcAft>
                <a:spcPts val="50"/>
              </a:spcAft>
              <a:buClr>
                <a:srgbClr val="262626"/>
              </a:buClr>
              <a:buSzPts val="1400"/>
              <a:buFont typeface="Inter"/>
              <a:buChar char="•"/>
            </a:pPr>
            <a:r>
              <a:rPr lang="en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Future: replaces AR LLMs?</a:t>
            </a:r>
            <a:endParaRPr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/>
          <p:nvPr/>
        </p:nvSpPr>
        <p:spPr>
          <a:xfrm>
            <a:off x="272000" y="384975"/>
            <a:ext cx="78000" cy="4155025"/>
          </a:xfrm>
          <a:prstGeom prst="rect">
            <a:avLst/>
          </a:prstGeom>
          <a:solidFill>
            <a:srgbClr val="00B8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457100" y="424975"/>
            <a:ext cx="8229800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Papers &amp; Resources</a:t>
            </a:r>
            <a:endParaRPr/>
          </a:p>
        </p:txBody>
      </p:sp>
      <p:sp>
        <p:nvSpPr>
          <p:cNvPr id="182" name="Google Shape;182;p26"/>
          <p:cNvSpPr txBox="1"/>
          <p:nvPr/>
        </p:nvSpPr>
        <p:spPr>
          <a:xfrm>
            <a:off x="457100" y="1180000"/>
            <a:ext cx="8229900" cy="27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Papers </a:t>
            </a:r>
            <a:r>
              <a:rPr b="1" lang="en" sz="1700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mentioned</a:t>
            </a: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 today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MDLM: Sahoo et al., Masked Diffusion Language Models (NeurIPS 2024)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SEDD: Lou et al., Discrete Diffusion Modeling by Score Entropy (ICML 2024)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LLaDA: Nie et al., Large Language Diffusion with Masking (2025)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Dream: DreamLM Team, Diffusion Reasoning Models (2025)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" sz="1700" u="none" cap="none" strike="noStrike">
                <a:solidFill>
                  <a:srgbClr val="262626"/>
                </a:solidFill>
                <a:latin typeface="Cabin"/>
                <a:ea typeface="Cabin"/>
                <a:cs typeface="Cabin"/>
                <a:sym typeface="Cabin"/>
              </a:rPr>
              <a:t>Lecture materials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Slides + notebook: github.com/apoorvumang/iisc_diffusion_lecture_2026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Lecture 1 notebook: Decoding in AR LLMs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262626"/>
                </a:solidFill>
                <a:latin typeface="Inter"/>
                <a:ea typeface="Inter"/>
                <a:cs typeface="Inter"/>
                <a:sym typeface="Inter"/>
              </a:rPr>
              <a:t>Lecture 2 notebook: Discrete Diffusion (today)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62626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7"/>
          <p:cNvSpPr txBox="1"/>
          <p:nvPr/>
        </p:nvSpPr>
        <p:spPr>
          <a:xfrm>
            <a:off x="457100" y="1400000"/>
            <a:ext cx="8229800" cy="1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0" i="0" lang="en" sz="4200" u="none" cap="none" strike="noStrike">
                <a:solidFill>
                  <a:srgbClr val="FAF8F0"/>
                </a:solidFill>
                <a:latin typeface="Cabin"/>
                <a:ea typeface="Cabin"/>
                <a:cs typeface="Cabin"/>
                <a:sym typeface="Cabin"/>
              </a:rPr>
              <a:t>Thank You!</a:t>
            </a:r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457100" y="2700000"/>
            <a:ext cx="82299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9999"/>
                </a:solidFill>
                <a:latin typeface="Inter"/>
                <a:ea typeface="Inter"/>
                <a:cs typeface="Inter"/>
                <a:sym typeface="Inter"/>
              </a:rPr>
              <a:t>Apoorv Saxena  ·  Inception AI</a:t>
            </a:r>
            <a:br>
              <a:rPr b="0" i="0" lang="en" sz="1400" u="none" cap="none" strike="noStrike">
                <a:solidFill>
                  <a:srgbClr val="009999"/>
                </a:solidFill>
                <a:latin typeface="Inter"/>
                <a:ea typeface="Inter"/>
                <a:cs typeface="Inter"/>
                <a:sym typeface="Inter"/>
              </a:rPr>
            </a:br>
            <a:endParaRPr>
              <a:solidFill>
                <a:srgbClr val="00999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00999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009999"/>
                </a:solidFill>
                <a:latin typeface="Inter"/>
                <a:ea typeface="Inter"/>
                <a:cs typeface="Inter"/>
                <a:sym typeface="Inter"/>
              </a:rPr>
              <a:t>We are looking for full time hires! Check out </a:t>
            </a:r>
            <a:r>
              <a:rPr lang="en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https://www.inceptionlabs.ai/careers</a:t>
            </a:r>
            <a:r>
              <a:rPr lang="en">
                <a:solidFill>
                  <a:srgbClr val="009999"/>
                </a:solidFill>
                <a:latin typeface="Inter"/>
                <a:ea typeface="Inter"/>
                <a:cs typeface="Inter"/>
                <a:sym typeface="Inter"/>
              </a:rPr>
              <a:t> and/or email </a:t>
            </a:r>
            <a:r>
              <a:rPr lang="en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apoorv@inceptionlabs.ai</a:t>
            </a:r>
            <a:endParaRPr>
              <a:solidFill>
                <a:srgbClr val="00999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00999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ramer">
  <a:themeElements>
    <a:clrScheme name="Office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62626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